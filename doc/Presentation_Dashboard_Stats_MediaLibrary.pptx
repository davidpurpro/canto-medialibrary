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7" r:id="rId2"/>
    <p:sldId id="258" r:id="rId3"/>
    <p:sldId id="262" r:id="rId4"/>
    <p:sldId id="260" r:id="rId5"/>
    <p:sldId id="259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2:37:35.1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301 113 24575,'0'1'0,"-1"0"0,1-1 0,0 1 0,0 0 0,-1 0 0,1-1 0,-1 1 0,1 0 0,0-1 0,-1 1 0,1 0 0,-1-1 0,0 1 0,1-1 0,-1 1 0,0-1 0,1 1 0,-1-1 0,0 1 0,1-1 0,-1 0 0,0 1 0,0-1 0,1 0 0,-1 0 0,-1 1 0,-25 3 0,24-3 0,-18 1 0,-39 9 0,52-8 0,0 0 0,0 0 0,0 1 0,0-1 0,1 2 0,-1-1 0,-10 9 0,10-6 0,0-1 0,0 1 0,0 1 0,1 0 0,0-1 0,1 2 0,0-1 0,0 1 0,0 0 0,1 1 0,1-1 0,0 1 0,0 0 0,1 0 0,0 0 0,0 0 0,1 0 0,1 1 0,0-1 0,0 15 0,1-23 0,1 31 0,7 58 0,-6-80 0,0 0 0,1 0 0,1-1 0,0 1 0,0-1 0,1 0 0,0 0 0,0-1 0,10 12 0,5 6 0,-7-9 0,1 0 0,25 24 0,-34-38 0,0 1 0,0-1 0,1 0 0,-1-1 0,1 1 0,0-1 0,0 0 0,0-1 0,1 0 0,-1 0 0,0 0 0,1 0 0,7 0 0,7 1 0,-1 1 0,34 10 0,-37-8 0,1-1 0,1-1 0,36 4 0,126-10 0,-177 1 0,0 1 0,0-1 0,0 0 0,0 0 0,0 0 0,0-1 0,-1 1 0,1-1 0,-1 0 0,1 0 0,-1 0 0,0-1 0,1 1 0,-1-1 0,0 1 0,-1-1 0,1 0 0,0 0 0,-1-1 0,0 1 0,3-5 0,2-7 0,-1 0 0,0 0 0,-1 0 0,3-19 0,11-29 0,-12 47 0,-1-1 0,0 0 0,-2 0 0,0 0 0,-1-1 0,2-31 0,-5 40 0,0 0 0,-1 0 0,0 0 0,0 0 0,-1 0 0,0 0 0,-1 0 0,0 1 0,0-1 0,-1 1 0,0 0 0,0 0 0,-1 0 0,-10-13 0,-108-116 0,102 116 0,0 1 0,-1 1 0,-1 1 0,-1 1 0,-36-20 0,49 32 0,0 0 0,0 0 0,0 1 0,-1 0 0,-18-3 0,-62-6 0,85 12 0,0 0 0,-1 0 0,0 1 0,0 0 0,0 0 0,0 1 0,0 0 0,0 0 0,-9 3 0,14-3 0,-1 1 0,1-1 0,0 1 0,-1 0 0,1 0 0,0 1 0,0-1 0,1 0 0,-1 1 0,0 0 0,1 0 0,-1-1 0,1 1 0,0 1 0,0-1 0,0 0 0,1 0 0,-1 1 0,-1 4 0,-4 14-1365,0-2-5461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2:37:38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24575,'0'594'0,"1"-577"0,1 1 0,0-1 0,1 0 0,1 0 0,1 0 0,7 18 0,-1-8 0,1-1 0,30 48 0,-23-45 0,1-1 0,2 0 0,38 38 0,-51-57 0,1-1 0,-1-1 0,1 1 0,0-1 0,1-1 0,0 0 0,0-1 0,0 0 0,1 0 0,-1-1 0,1-1 0,0 0 0,19 2 0,85 11 0,-115-15 0,1-1 0,-1 0 0,0 0 0,1 0 0,-1 0 0,1-1 0,-1 1 0,1 0 0,-1 0 0,0-1 0,1 1 0,-1-1 0,0 1 0,1-1 0,-1 0 0,0 1 0,0-1 0,0 0 0,0 0 0,1 0 0,-1 0 0,0 0 0,-1 0 0,1 0 0,0 0 0,0-1 0,0 1 0,-1 0 0,1 0 0,0-1 0,-1 1 0,1 0 0,-1-1 0,0 1 0,1-1 0,-1 1 0,0 0 0,0-1 0,0 1 0,0-1 0,0 1 0,-1-3 0,1-2 0,-1 1 0,0-1 0,-1 1 0,0-1 0,1 1 0,-1 0 0,-1 0 0,1 0 0,-1 0 0,-3-5 0,-18-19 0,15 19 0,1 1 0,0-2 0,1 1 0,0-1 0,-8-17 0,15 27 0,-1 0 0,1 1 0,0-1 0,-1 0 0,1 0 0,0 1 0,-1-1 0,1 0 0,0 0 0,0 0 0,0 0 0,0 1 0,-1-1 0,1 0 0,1 0 0,-1 0 0,0 0 0,0 0 0,0 1 0,0-1 0,0 0 0,1 0 0,-1 0 0,0 1 0,1-1 0,-1 0 0,1 0 0,-1 1 0,1-1 0,-1 0 0,1 1 0,-1-1 0,1 0 0,0 1 0,-1-1 0,1 1 0,0-1 0,-1 1 0,1-1 0,0 1 0,0 0 0,0-1 0,-1 1 0,1 0 0,0 0 0,0 0 0,0-1 0,0 1 0,-1 0 0,1 0 0,0 0 0,0 0 0,1 1 0,6-1 0,-1 1 0,0 0 0,1 0 0,12 5 0,34 14 0,58 30 0,46 17 0,-139-61 0,34 12 0,-50-17 0,-1 0 0,1 1 0,0-1 0,-1 0 0,0 1 0,1-1 0,-1 1 0,0 0 0,0 0 0,0 0 0,0 0 0,0 0 0,0 1 0,2 4 0,-4-7 0,0 1 0,0 0 0,0 0 0,0-1 0,0 1 0,0 0 0,0-1 0,0 1 0,0 0 0,0 0 0,0-1 0,-1 1 0,1 0 0,0-1 0,0 1 0,-1 0 0,1-1 0,-1 1 0,1-1 0,0 1 0,-1 0 0,1-1 0,-1 1 0,1-1 0,-1 1 0,0-1 0,1 0 0,-1 1 0,1-1 0,-2 1 0,-22 9 0,23-9 0,-34 9 0,-1-2 0,0-1 0,-60 3 0,65-7 0,17-1 0,0 1 0,1 0 0,-26 11 0,24-8 0,-1-1 0,-24 4 0,-62 16 94,48-10-1553,35-11-5367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16092C-FEFD-9553-92E7-C2FB5D6AA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L'accès au tableau de bord des statistiques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C1214A-08C1-DB73-92F9-EB9AB44F395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576207" y="1152475"/>
            <a:ext cx="3256093" cy="3416400"/>
          </a:xfrm>
        </p:spPr>
        <p:txBody>
          <a:bodyPr>
            <a:normAutofit lnSpcReduction="10000"/>
          </a:bodyPr>
          <a:lstStyle/>
          <a:p>
            <a:pPr lvl="0"/>
            <a:r>
              <a:rPr lang="fr-FR" dirty="0"/>
              <a:t>C'est le point d'entrée de la démonstration. L'espace analytique est sécurisé et facile d'accès pour les administrateurs.</a:t>
            </a:r>
          </a:p>
          <a:p>
            <a:pPr lvl="0"/>
            <a:r>
              <a:rPr lang="fr-FR" dirty="0"/>
              <a:t>En cliquant sur le </a:t>
            </a:r>
            <a:r>
              <a:rPr lang="fr-FR" b="1" dirty="0"/>
              <a:t>bouton en forme de graphique</a:t>
            </a:r>
            <a:r>
              <a:rPr lang="fr-FR" dirty="0"/>
              <a:t> situé en haut à droite de l'interface principale, l'utilisateur est redirigé vers ce tableau de bord.</a:t>
            </a:r>
          </a:p>
          <a:p>
            <a:pPr lvl="0"/>
            <a:r>
              <a:rPr lang="fr-FR" dirty="0"/>
              <a:t>Alternativement, l'administrateur peut taper directement le chemin </a:t>
            </a:r>
            <a:r>
              <a:rPr lang="fr-FR" b="1" dirty="0"/>
              <a:t>/stats</a:t>
            </a:r>
            <a:r>
              <a:rPr lang="fr-FR" dirty="0"/>
              <a:t> à la fin de l'URL dans son navigateur pour y accéder instantanément.</a:t>
            </a:r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6EEFF9A-32F1-43AE-082A-E9B882D47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227614"/>
            <a:ext cx="4970550" cy="2942218"/>
          </a:xfrm>
          <a:prstGeom prst="rect">
            <a:avLst/>
          </a:prstGeom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FD1850AF-B80F-0F72-FC8A-ACCB55D33938}"/>
              </a:ext>
            </a:extLst>
          </p:cNvPr>
          <p:cNvGrpSpPr/>
          <p:nvPr/>
        </p:nvGrpSpPr>
        <p:grpSpPr>
          <a:xfrm>
            <a:off x="4320531" y="1048280"/>
            <a:ext cx="654840" cy="515520"/>
            <a:chOff x="5665873" y="1052820"/>
            <a:chExt cx="654840" cy="51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Encre 6">
                  <a:extLst>
                    <a:ext uri="{FF2B5EF4-FFF2-40B4-BE49-F238E27FC236}">
                      <a16:creationId xmlns:a16="http://schemas.microsoft.com/office/drawing/2014/main" id="{BF9D7951-043D-C229-593C-C33EB19CA7EC}"/>
                    </a:ext>
                  </a:extLst>
                </p14:cNvPr>
                <p14:cNvContentPartPr/>
                <p14:nvPr/>
              </p14:nvContentPartPr>
              <p14:xfrm>
                <a:off x="6039553" y="1273860"/>
                <a:ext cx="281160" cy="294480"/>
              </p14:xfrm>
            </p:contentPart>
          </mc:Choice>
          <mc:Fallback xmlns="">
            <p:pic>
              <p:nvPicPr>
                <p:cNvPr id="7" name="Encre 6">
                  <a:extLst>
                    <a:ext uri="{FF2B5EF4-FFF2-40B4-BE49-F238E27FC236}">
                      <a16:creationId xmlns:a16="http://schemas.microsoft.com/office/drawing/2014/main" id="{BF9D7951-043D-C229-593C-C33EB19CA7E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33433" y="1267740"/>
                  <a:ext cx="2934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Encre 7">
                  <a:extLst>
                    <a:ext uri="{FF2B5EF4-FFF2-40B4-BE49-F238E27FC236}">
                      <a16:creationId xmlns:a16="http://schemas.microsoft.com/office/drawing/2014/main" id="{04FB241B-2D3D-5D4C-6F34-EF0D94ECBE98}"/>
                    </a:ext>
                  </a:extLst>
                </p14:cNvPr>
                <p14:cNvContentPartPr/>
                <p14:nvPr/>
              </p14:nvContentPartPr>
              <p14:xfrm>
                <a:off x="5665873" y="1052820"/>
                <a:ext cx="338400" cy="439920"/>
              </p14:xfrm>
            </p:contentPart>
          </mc:Choice>
          <mc:Fallback xmlns="">
            <p:pic>
              <p:nvPicPr>
                <p:cNvPr id="8" name="Encre 7">
                  <a:extLst>
                    <a:ext uri="{FF2B5EF4-FFF2-40B4-BE49-F238E27FC236}">
                      <a16:creationId xmlns:a16="http://schemas.microsoft.com/office/drawing/2014/main" id="{04FB241B-2D3D-5D4C-6F34-EF0D94ECBE9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659753" y="1046700"/>
                  <a:ext cx="350640" cy="452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1184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6EA443-488F-434C-699B-856FC175E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Les Indicateurs Clés de Performance (KPIs)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93C75E-19A5-35BE-085E-C3FDDF9D1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694280"/>
            <a:ext cx="8593484" cy="1383905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fr-FR" dirty="0"/>
              <a:t>Cette vue présente les statistiques globales et instantanées de l'application sous forme de cartes.</a:t>
            </a:r>
          </a:p>
          <a:p>
            <a:pPr lvl="0"/>
            <a:r>
              <a:rPr lang="fr-FR" dirty="0"/>
              <a:t>On y récolte le volume d'activité global : le nombre total d'actions enregistrées (795), de fichiers téléversés (50) et de suppressions (25).</a:t>
            </a:r>
          </a:p>
          <a:p>
            <a:pPr lvl="0"/>
            <a:r>
              <a:rPr lang="fr-FR" dirty="0"/>
              <a:t>Elle affiche les métriques de performance technique en temps réel : le temps moyen de chargement des pages (ex: 513 ms) et la vitesse moyenne de téléchargement (18.34 Mbps).</a:t>
            </a:r>
          </a:p>
          <a:p>
            <a:pPr lvl="0"/>
            <a:r>
              <a:rPr lang="fr-FR" dirty="0"/>
              <a:t>Elle indique l'engagement quotidien avec le nombre d'utilisateurs actifs du jour.</a:t>
            </a:r>
          </a:p>
          <a:p>
            <a:pPr lvl="0"/>
            <a:r>
              <a:rPr lang="fr-FR" dirty="0"/>
              <a:t>En cliquant sur le bouton en haut à droite </a:t>
            </a:r>
            <a:r>
              <a:rPr lang="fr-FR" b="1" dirty="0"/>
              <a:t>"Back to </a:t>
            </a:r>
            <a:r>
              <a:rPr lang="fr-FR" b="1" dirty="0" err="1"/>
              <a:t>Gallery</a:t>
            </a:r>
            <a:r>
              <a:rPr lang="fr-FR" b="1" dirty="0"/>
              <a:t>"</a:t>
            </a:r>
            <a:r>
              <a:rPr lang="fr-FR" dirty="0"/>
              <a:t>, l'administrateur retourne facilement à l'interface principale.</a:t>
            </a:r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66592A6-AAE5-6C3A-FBA2-2A89B7C64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08" y="1085850"/>
            <a:ext cx="8905184" cy="254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564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B599A-E581-245D-4151-04118189E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111045-FFF3-87A4-4248-A4FE5C32C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9130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/>
              <a:t>L'Évolution et le Palmarès (Activity Timeline &amp; Most Active </a:t>
            </a:r>
            <a:r>
              <a:rPr lang="fr-FR" dirty="0" err="1"/>
              <a:t>Users</a:t>
            </a:r>
            <a:r>
              <a:rPr lang="fr-FR" dirty="0"/>
              <a:t>)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54ED2BD-F552-E668-50A2-FB06DAA9EAD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777688" y="1152475"/>
            <a:ext cx="3170369" cy="341640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fr-FR" dirty="0"/>
              <a:t>Le graphique de gauche récolte et trace le volume d'actions quotidiennes sur les 7 derniers jours pour visualiser la tendance d'utilisation.</a:t>
            </a:r>
          </a:p>
          <a:p>
            <a:pPr lvl="0"/>
            <a:r>
              <a:rPr lang="fr-FR" dirty="0"/>
              <a:t>Le panneau de droite récolte et génère le classement des collaborateurs les plus engagés.</a:t>
            </a:r>
          </a:p>
          <a:p>
            <a:pPr lvl="0"/>
            <a:r>
              <a:rPr lang="fr-FR" dirty="0"/>
              <a:t>On y trouve l'adresse email de l'utilisateur associée à son nombre total d'actions ("</a:t>
            </a:r>
            <a:r>
              <a:rPr lang="fr-FR" dirty="0" err="1"/>
              <a:t>acts</a:t>
            </a:r>
            <a:r>
              <a:rPr lang="fr-FR" dirty="0"/>
              <a:t>").</a:t>
            </a:r>
          </a:p>
          <a:p>
            <a:pPr lvl="0"/>
            <a:r>
              <a:rPr lang="fr-FR" dirty="0"/>
              <a:t>En utilisant la </a:t>
            </a:r>
            <a:r>
              <a:rPr lang="fr-FR" b="1" dirty="0"/>
              <a:t>barre de défilement</a:t>
            </a:r>
            <a:r>
              <a:rPr lang="fr-FR" dirty="0"/>
              <a:t> sur la droite, on peut consulter l'intégralité du classement.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42A150B-A782-17E1-1237-CF12F39C3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85" y="1289957"/>
            <a:ext cx="5816926" cy="284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077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F2CFF5-8FE9-9841-41D7-DDAADAE6E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9130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/>
              <a:t>Les Performances par Page (Page </a:t>
            </a:r>
            <a:r>
              <a:rPr lang="fr-FR" dirty="0" err="1"/>
              <a:t>Load</a:t>
            </a:r>
            <a:r>
              <a:rPr lang="fr-FR" dirty="0"/>
              <a:t> Speed &amp; Hits Breakdown)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D820CC-B8DA-D318-1F42-4EAC9576C26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777688" y="1152475"/>
            <a:ext cx="3170369" cy="341640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fr-FR" dirty="0"/>
              <a:t>Ce tableau permet d'auditer la fluidité du site de manière chirurgicale, route par route.</a:t>
            </a:r>
          </a:p>
          <a:p>
            <a:pPr lvl="0"/>
            <a:r>
              <a:rPr lang="fr-FR" dirty="0"/>
              <a:t>Il récolte chaque chemin URL visité par les utilisateurs (la colonne "Page Path").</a:t>
            </a:r>
          </a:p>
          <a:p>
            <a:pPr lvl="0"/>
            <a:r>
              <a:rPr lang="fr-FR" dirty="0"/>
              <a:t>Il indique la popularité de chaque page avec le nombre total de visites ("Hits").</a:t>
            </a:r>
          </a:p>
          <a:p>
            <a:pPr lvl="0"/>
            <a:r>
              <a:rPr lang="fr-FR" dirty="0"/>
              <a:t>Il calcule le temps de chargement moyen ("</a:t>
            </a:r>
            <a:r>
              <a:rPr lang="fr-FR" dirty="0" err="1"/>
              <a:t>Avg</a:t>
            </a:r>
            <a:r>
              <a:rPr lang="fr-FR" dirty="0"/>
              <a:t> </a:t>
            </a:r>
            <a:r>
              <a:rPr lang="fr-FR" dirty="0" err="1"/>
              <a:t>Load</a:t>
            </a:r>
            <a:r>
              <a:rPr lang="fr-FR" dirty="0"/>
              <a:t> Time") spécifique à chaque page, ce qui permet à l'équipe IT de repérer d'un coup d'œil les pages lentes à optimiser.</a:t>
            </a:r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066B8C3-AB56-F895-0867-AEB19FE65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152475"/>
            <a:ext cx="5465989" cy="279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84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930CA7-895C-84DA-CAE7-F5809D769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736" y="195943"/>
            <a:ext cx="8809263" cy="821782"/>
          </a:xfrm>
        </p:spPr>
        <p:txBody>
          <a:bodyPr>
            <a:normAutofit/>
          </a:bodyPr>
          <a:lstStyle/>
          <a:p>
            <a:r>
              <a:rPr lang="fr-FR" dirty="0"/>
              <a:t>Le Journal d'Audit Détaillé (Audit Logs)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5061EFA-0406-6C04-ECD8-B02EDE4CFDB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59928" y="1152475"/>
            <a:ext cx="3020786" cy="3416400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fr-FR" dirty="0"/>
              <a:t>C'est l'historique complet et détaillé de tout ce qui se passe sur la plateforme, idéal pour la sécurité et la traçabilité.</a:t>
            </a:r>
          </a:p>
          <a:p>
            <a:pPr lvl="0"/>
            <a:r>
              <a:rPr lang="fr-FR" dirty="0"/>
              <a:t>Le tableau central récolte 4 informations par événement : la date et l'heure exactes (Timestamp), l'utilisateur à l'origine de l'action (User), le type d'événement (Action), et les détails techniques bruts.</a:t>
            </a:r>
          </a:p>
          <a:p>
            <a:pPr lvl="0"/>
            <a:r>
              <a:rPr lang="fr-FR" dirty="0"/>
              <a:t>En cliquant sur le menu déroulant </a:t>
            </a:r>
            <a:r>
              <a:rPr lang="fr-FR" b="1" dirty="0"/>
              <a:t>"FILTER BY PERSON"</a:t>
            </a:r>
            <a:r>
              <a:rPr lang="fr-FR" dirty="0"/>
              <a:t>, on peut isoler l'activité d'un collaborateur spécifique.</a:t>
            </a:r>
          </a:p>
          <a:p>
            <a:pPr lvl="0"/>
            <a:r>
              <a:rPr lang="fr-FR" dirty="0"/>
              <a:t>En cliquant sur les différents boutons de la barre </a:t>
            </a:r>
            <a:r>
              <a:rPr lang="fr-FR" b="1" dirty="0"/>
              <a:t>"ACTION TYPE"</a:t>
            </a:r>
            <a:r>
              <a:rPr lang="fr-FR" dirty="0"/>
              <a:t> (ex: </a:t>
            </a:r>
            <a:r>
              <a:rPr lang="fr-FR" dirty="0" err="1"/>
              <a:t>page_load</a:t>
            </a:r>
            <a:r>
              <a:rPr lang="fr-FR" dirty="0"/>
              <a:t>, </a:t>
            </a:r>
            <a:r>
              <a:rPr lang="fr-FR" dirty="0" err="1"/>
              <a:t>file_uploaded</a:t>
            </a:r>
            <a:r>
              <a:rPr lang="fr-FR" dirty="0"/>
              <a:t>), on peut filtrer les résultats par événement.</a:t>
            </a:r>
          </a:p>
          <a:p>
            <a:pPr lvl="0"/>
            <a:r>
              <a:rPr lang="fr-FR" dirty="0"/>
              <a:t>En cliquant sur le bouton </a:t>
            </a:r>
            <a:r>
              <a:rPr lang="fr-FR" b="1" dirty="0"/>
              <a:t>"Clear </a:t>
            </a:r>
            <a:r>
              <a:rPr lang="fr-FR" b="1" dirty="0" err="1"/>
              <a:t>filters</a:t>
            </a:r>
            <a:r>
              <a:rPr lang="fr-FR" b="1" dirty="0"/>
              <a:t>"</a:t>
            </a:r>
            <a:r>
              <a:rPr lang="fr-FR" dirty="0"/>
              <a:t>, on réinitialise la recherche d'un simple clic.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B6D8CD4-ED19-0A07-5F6C-AD072A139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6" y="1152475"/>
            <a:ext cx="5878284" cy="286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8396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506</Words>
  <Application>Microsoft Office PowerPoint</Application>
  <PresentationFormat>Affichage à l'écran (16:9)</PresentationFormat>
  <Paragraphs>26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7" baseType="lpstr">
      <vt:lpstr>Arial</vt:lpstr>
      <vt:lpstr>Simple Light</vt:lpstr>
      <vt:lpstr>L'accès au tableau de bord des statistiques</vt:lpstr>
      <vt:lpstr>Les Indicateurs Clés de Performance (KPIs)</vt:lpstr>
      <vt:lpstr>L'Évolution et le Palmarès (Activity Timeline &amp; Most Active Users)</vt:lpstr>
      <vt:lpstr>Les Performances par Page (Page Load Speed &amp; Hits Breakdown)</vt:lpstr>
      <vt:lpstr>Le Journal d'Audit Détaillé (Audit Logs)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Guney</cp:lastModifiedBy>
  <cp:revision>2</cp:revision>
  <dcterms:modified xsi:type="dcterms:W3CDTF">2026-08-27T12:50:26Z</dcterms:modified>
</cp:coreProperties>
</file>